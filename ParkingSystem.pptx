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Epilogue" panose="020B0604020202020204" charset="0"/>
      <p:regular r:id="rId32"/>
      <p:bold r:id="rId33"/>
      <p:italic r:id="rId34"/>
      <p:boldItalic r:id="rId35"/>
    </p:embeddedFont>
    <p:embeddedFont>
      <p:font typeface="Fraunces Medium" panose="020B0604020202020204" charset="0"/>
      <p:regular r:id="rId36"/>
      <p:bold r:id="rId37"/>
      <p:italic r:id="rId38"/>
      <p:boldItalic r:id="rId39"/>
    </p:embeddedFont>
    <p:embeddedFont>
      <p:font typeface="Robot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9AE21D-751B-42DC-982F-BBD6308D5988}">
  <a:tblStyle styleId="{6E9AE21D-751B-42DC-982F-BBD6308D598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2.fntdata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714375"/>
            <a:ext cx="45720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3" name="Google Shape;3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2" name="Google Shape;3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69850" rIns="69850" bIns="69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1" name="Google Shape;3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6" y="685797"/>
            <a:ext cx="342915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714375"/>
            <a:ext cx="4572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0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351" name="Google Shape;351;p20:notes"/>
          <p:cNvSpPr txBox="1">
            <a:spLocks noGrp="1"/>
          </p:cNvSpPr>
          <p:nvPr>
            <p:ph type="sldNum" idx="12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714375"/>
            <a:ext cx="45720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360" name="Google Shape;360;p21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d71f786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1875000" cy="187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g35d71f78649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5d71f78649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499900" cy="1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2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2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3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4509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39" name="Google Shape;139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0" name="Google Shape;140;p3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7"/>
          <p:cNvSpPr txBox="1"/>
          <p:nvPr/>
        </p:nvSpPr>
        <p:spPr>
          <a:xfrm>
            <a:off x="2043850" y="505475"/>
            <a:ext cx="6399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Anjuman Institute Of Technology And Management</a:t>
            </a:r>
            <a:endParaRPr sz="2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Anjumanabad, Bhatkal - 581320</a:t>
            </a:r>
            <a:endParaRPr sz="2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175" y="456413"/>
            <a:ext cx="1598675" cy="16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7"/>
          <p:cNvSpPr txBox="1"/>
          <p:nvPr/>
        </p:nvSpPr>
        <p:spPr>
          <a:xfrm>
            <a:off x="4018750" y="2037150"/>
            <a:ext cx="18966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on</a:t>
            </a:r>
            <a:endParaRPr sz="1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37"/>
          <p:cNvSpPr txBox="1"/>
          <p:nvPr/>
        </p:nvSpPr>
        <p:spPr>
          <a:xfrm>
            <a:off x="1727650" y="2378363"/>
            <a:ext cx="6141000" cy="10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Multi-Floor Parking Management System using ANPR &amp; OCR</a:t>
            </a:r>
            <a:endParaRPr sz="1900" b="0" i="0" u="none" strike="noStrike" cap="none">
              <a:solidFill>
                <a:srgbClr val="FFE5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37"/>
          <p:cNvSpPr txBox="1"/>
          <p:nvPr/>
        </p:nvSpPr>
        <p:spPr>
          <a:xfrm>
            <a:off x="977799" y="3825375"/>
            <a:ext cx="3158431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Mohammed Mafaz   (2AB21CS036)</a:t>
            </a:r>
            <a:endParaRPr sz="13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Mohammed Suhail   (2AB21CS040)</a:t>
            </a:r>
            <a:endParaRPr sz="13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 Abdul Muqsit  (2AB21CS053)</a:t>
            </a:r>
            <a:endParaRPr sz="13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Mafaz Siddiqua        (2AB21CS024)</a:t>
            </a:r>
            <a:endParaRPr sz="13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7"/>
          <p:cNvSpPr txBox="1"/>
          <p:nvPr/>
        </p:nvSpPr>
        <p:spPr>
          <a:xfrm>
            <a:off x="6005000" y="3825375"/>
            <a:ext cx="21474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Arzoo Rumana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 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7"/>
          <p:cNvSpPr txBox="1"/>
          <p:nvPr/>
        </p:nvSpPr>
        <p:spPr>
          <a:xfrm>
            <a:off x="2489050" y="1457963"/>
            <a:ext cx="53796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704025" y="3527475"/>
            <a:ext cx="12903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37"/>
          <p:cNvSpPr txBox="1"/>
          <p:nvPr/>
        </p:nvSpPr>
        <p:spPr>
          <a:xfrm>
            <a:off x="5574600" y="3487225"/>
            <a:ext cx="2147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/>
          <p:nvPr/>
        </p:nvSpPr>
        <p:spPr>
          <a:xfrm>
            <a:off x="486550" y="616550"/>
            <a:ext cx="35808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 sz="2800" b="0" i="0" u="none" strike="noStrike" cap="none">
              <a:solidFill>
                <a:srgbClr val="FFE5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38" title="night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9125" y="4586361"/>
            <a:ext cx="1264875" cy="55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8"/>
          <p:cNvSpPr txBox="1"/>
          <p:nvPr/>
        </p:nvSpPr>
        <p:spPr>
          <a:xfrm>
            <a:off x="500275" y="1232025"/>
            <a:ext cx="4071600" cy="3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&amp; Modules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Explanation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13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9"/>
          <p:cNvSpPr/>
          <p:nvPr/>
        </p:nvSpPr>
        <p:spPr>
          <a:xfrm>
            <a:off x="3925119" y="616669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3925125" y="1181950"/>
            <a:ext cx="4546500" cy="2701200"/>
          </a:xfrm>
          <a:prstGeom prst="roundRect">
            <a:avLst>
              <a:gd name="adj" fmla="val 4317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9"/>
          <p:cNvSpPr txBox="1"/>
          <p:nvPr/>
        </p:nvSpPr>
        <p:spPr>
          <a:xfrm>
            <a:off x="4040050" y="1452044"/>
            <a:ext cx="4157100" cy="2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presents an intelligent multi-floor parking management system leveraging Automatic Number Plate Recognition (ANPR) to automate vehicle entry, slot assignment, occupancy tracking, and payment processing, delivering a robust, real-time dashboard for efficient space utilization and user convenience.</a:t>
            </a:r>
            <a:endParaRPr sz="1300" b="0" i="0" u="none" strike="noStrike" cap="none">
              <a:solidFill>
                <a:srgbClr val="CFD0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/>
          <p:nvPr/>
        </p:nvSpPr>
        <p:spPr>
          <a:xfrm>
            <a:off x="3925119" y="1179984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0"/>
          <p:cNvSpPr/>
          <p:nvPr/>
        </p:nvSpPr>
        <p:spPr>
          <a:xfrm>
            <a:off x="3925119" y="183557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0"/>
          <p:cNvSpPr/>
          <p:nvPr/>
        </p:nvSpPr>
        <p:spPr>
          <a:xfrm>
            <a:off x="4385827" y="1884250"/>
            <a:ext cx="2407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Parking Challenges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4385816" y="2190750"/>
            <a:ext cx="426206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parking management causes inefficiencies, disputes, and lack of transparency in vehicle tracking and payments.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40"/>
          <p:cNvSpPr/>
          <p:nvPr/>
        </p:nvSpPr>
        <p:spPr>
          <a:xfrm>
            <a:off x="3925119" y="29278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0"/>
          <p:cNvSpPr/>
          <p:nvPr/>
        </p:nvSpPr>
        <p:spPr>
          <a:xfrm>
            <a:off x="4385826" y="2976575"/>
            <a:ext cx="20238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Innovative Solution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40"/>
          <p:cNvSpPr/>
          <p:nvPr/>
        </p:nvSpPr>
        <p:spPr>
          <a:xfrm>
            <a:off x="4385816" y="3283074"/>
            <a:ext cx="4262066" cy="68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multi-camera system powered by Django enables automated detection, billing, and gate control to enhance urban parking efficiency.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/>
          <p:nvPr/>
        </p:nvSpPr>
        <p:spPr>
          <a:xfrm>
            <a:off x="496119" y="1587475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41"/>
          <p:cNvSpPr/>
          <p:nvPr/>
        </p:nvSpPr>
        <p:spPr>
          <a:xfrm>
            <a:off x="496126" y="2384825"/>
            <a:ext cx="21972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Recording Issues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41"/>
          <p:cNvSpPr/>
          <p:nvPr/>
        </p:nvSpPr>
        <p:spPr>
          <a:xfrm>
            <a:off x="496119" y="2748037"/>
            <a:ext cx="248632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from human entry/exit logging cause delays and inaccuracies affecting billing and security.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41"/>
          <p:cNvSpPr/>
          <p:nvPr/>
        </p:nvSpPr>
        <p:spPr>
          <a:xfrm>
            <a:off x="3333075" y="2384825"/>
            <a:ext cx="24864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 &amp; Payment Concerns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41"/>
          <p:cNvSpPr/>
          <p:nvPr/>
        </p:nvSpPr>
        <p:spPr>
          <a:xfrm>
            <a:off x="3333080" y="2748037"/>
            <a:ext cx="248632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instant view of available slots and slow, risky payment collection processes.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1"/>
          <p:cNvSpPr/>
          <p:nvPr/>
        </p:nvSpPr>
        <p:spPr>
          <a:xfrm>
            <a:off x="6170025" y="2384825"/>
            <a:ext cx="2289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Operation Limitations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41"/>
          <p:cNvSpPr/>
          <p:nvPr/>
        </p:nvSpPr>
        <p:spPr>
          <a:xfrm>
            <a:off x="6170017" y="2748037"/>
            <a:ext cx="24864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gates depend on personnel to operate, limiting automation and increasing operational costs.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159484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2"/>
          <p:cNvSpPr/>
          <p:nvPr/>
        </p:nvSpPr>
        <p:spPr>
          <a:xfrm>
            <a:off x="496119" y="2061568"/>
            <a:ext cx="3189759" cy="39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 Medium"/>
              <a:buNone/>
            </a:pPr>
            <a:r>
              <a:rPr lang="en" sz="26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42"/>
          <p:cNvSpPr/>
          <p:nvPr/>
        </p:nvSpPr>
        <p:spPr>
          <a:xfrm>
            <a:off x="496119" y="2651596"/>
            <a:ext cx="4012109" cy="948779"/>
          </a:xfrm>
          <a:prstGeom prst="roundRect">
            <a:avLst>
              <a:gd name="adj" fmla="val 5648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42"/>
          <p:cNvSpPr/>
          <p:nvPr/>
        </p:nvSpPr>
        <p:spPr>
          <a:xfrm>
            <a:off x="628425" y="2783900"/>
            <a:ext cx="25629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lang="en" sz="14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Logbooks &amp; RFID Barriers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42"/>
          <p:cNvSpPr/>
          <p:nvPr/>
        </p:nvSpPr>
        <p:spPr>
          <a:xfrm>
            <a:off x="628427" y="3059683"/>
            <a:ext cx="3747492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lang="en" sz="11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logs and RFID rely heavily on human oversight and suffer from data fragmentation.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42"/>
          <p:cNvSpPr/>
          <p:nvPr/>
        </p:nvSpPr>
        <p:spPr>
          <a:xfrm>
            <a:off x="4635773" y="2651596"/>
            <a:ext cx="4012109" cy="948779"/>
          </a:xfrm>
          <a:prstGeom prst="roundRect">
            <a:avLst>
              <a:gd name="adj" fmla="val 5648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42"/>
          <p:cNvSpPr/>
          <p:nvPr/>
        </p:nvSpPr>
        <p:spPr>
          <a:xfrm>
            <a:off x="4768074" y="2783900"/>
            <a:ext cx="21111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lang="en" sz="14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CCTV without ANPR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42"/>
          <p:cNvSpPr/>
          <p:nvPr/>
        </p:nvSpPr>
        <p:spPr>
          <a:xfrm>
            <a:off x="4768081" y="3059683"/>
            <a:ext cx="3747492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lang="en" sz="11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automatic recognition prevents efficient tracking; manual monitoring is time consuming.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42"/>
          <p:cNvSpPr/>
          <p:nvPr/>
        </p:nvSpPr>
        <p:spPr>
          <a:xfrm>
            <a:off x="496119" y="3727921"/>
            <a:ext cx="4012109" cy="948779"/>
          </a:xfrm>
          <a:prstGeom prst="roundRect">
            <a:avLst>
              <a:gd name="adj" fmla="val 5648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42"/>
          <p:cNvSpPr/>
          <p:nvPr/>
        </p:nvSpPr>
        <p:spPr>
          <a:xfrm>
            <a:off x="628425" y="3860225"/>
            <a:ext cx="21798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lang="en" sz="14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Payment Options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42"/>
          <p:cNvSpPr/>
          <p:nvPr/>
        </p:nvSpPr>
        <p:spPr>
          <a:xfrm>
            <a:off x="628427" y="4136008"/>
            <a:ext cx="3747492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lang="en" sz="11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Predominantly cash-based payments slow exit process and create security issues.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42"/>
          <p:cNvSpPr/>
          <p:nvPr/>
        </p:nvSpPr>
        <p:spPr>
          <a:xfrm>
            <a:off x="4635773" y="3727921"/>
            <a:ext cx="4012200" cy="948900"/>
          </a:xfrm>
          <a:prstGeom prst="roundRect">
            <a:avLst>
              <a:gd name="adj" fmla="val 5648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42"/>
          <p:cNvSpPr/>
          <p:nvPr/>
        </p:nvSpPr>
        <p:spPr>
          <a:xfrm>
            <a:off x="4768074" y="3860200"/>
            <a:ext cx="26091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lang="en" sz="14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Real-Time Dashboard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2"/>
          <p:cNvSpPr/>
          <p:nvPr/>
        </p:nvSpPr>
        <p:spPr>
          <a:xfrm>
            <a:off x="4768081" y="4136008"/>
            <a:ext cx="3747492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lang="en" sz="11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centralized system to display live slot occupancy or transaction status.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/>
          <p:nvPr/>
        </p:nvSpPr>
        <p:spPr>
          <a:xfrm>
            <a:off x="496119" y="1360661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2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43"/>
          <p:cNvSpPr/>
          <p:nvPr/>
        </p:nvSpPr>
        <p:spPr>
          <a:xfrm>
            <a:off x="496119" y="21580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Entrance Camera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43"/>
          <p:cNvSpPr/>
          <p:nvPr/>
        </p:nvSpPr>
        <p:spPr>
          <a:xfrm>
            <a:off x="496119" y="2521223"/>
            <a:ext cx="177849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captures license plate and timestamps vehicle entry using OCR.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43"/>
          <p:cNvSpPr/>
          <p:nvPr/>
        </p:nvSpPr>
        <p:spPr>
          <a:xfrm>
            <a:off x="2625254" y="21580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Cameras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43"/>
          <p:cNvSpPr/>
          <p:nvPr/>
        </p:nvSpPr>
        <p:spPr>
          <a:xfrm>
            <a:off x="2625254" y="2521223"/>
            <a:ext cx="1778496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vehicles in individual parking slots and assign them unique slot IDs.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43"/>
          <p:cNvSpPr/>
          <p:nvPr/>
        </p:nvSpPr>
        <p:spPr>
          <a:xfrm>
            <a:off x="4754389" y="21580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&amp; UI Integration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3"/>
          <p:cNvSpPr/>
          <p:nvPr/>
        </p:nvSpPr>
        <p:spPr>
          <a:xfrm>
            <a:off x="4754389" y="2521223"/>
            <a:ext cx="1778496" cy="113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Computes parking duration, presents UPI QR code for payment, and opens gate upon successful transaction.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43"/>
          <p:cNvSpPr/>
          <p:nvPr/>
        </p:nvSpPr>
        <p:spPr>
          <a:xfrm>
            <a:off x="6883524" y="2158008"/>
            <a:ext cx="17784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Administrative Dashboard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43"/>
          <p:cNvSpPr/>
          <p:nvPr/>
        </p:nvSpPr>
        <p:spPr>
          <a:xfrm>
            <a:off x="6883524" y="2742679"/>
            <a:ext cx="177849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real-time occupancy data and enables manual handling of cash payments.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44"/>
          <p:cNvGraphicFramePr/>
          <p:nvPr/>
        </p:nvGraphicFramePr>
        <p:xfrm>
          <a:off x="648164" y="12266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{6E9AE21D-751B-42DC-982F-BBD6308D5988}</a:tableStyleId>
              </a:tblPr>
              <a:tblGrid>
                <a:gridCol w="142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ParkNest - The Smart Parking System Using IoT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Gagan S, Ravi H.K.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Published Date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Journal/Conference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 IEEE International Conference on Smart Systems for applications in Electrical Sciences (ICSSES)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Has Been Researched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Developed a smart parking prototype with IR sensors and NodeMCU to detect slot availability. - Android app built with Firebase integration for real-time slot updates, booking, and navigation. - Gate automation using servo motors. - Focused on reducing congestion and CO₂ emissions.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Identified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scalability to larger parking zones. - Prototype is small (6 slots only). - No dynamic pricing or predictive analytics. - Security, energy efficiency, and multi-facility integration are not deeply addressed.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6" name="Google Shape;236;p44"/>
          <p:cNvSpPr txBox="1"/>
          <p:nvPr/>
        </p:nvSpPr>
        <p:spPr>
          <a:xfrm>
            <a:off x="1261481" y="327738"/>
            <a:ext cx="6621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ctr" rtl="0">
              <a:lnSpc>
                <a:spcPct val="13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 Medium"/>
              <a:buNone/>
            </a:pPr>
            <a:r>
              <a:rPr lang="en" sz="26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1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45"/>
          <p:cNvGraphicFramePr/>
          <p:nvPr/>
        </p:nvGraphicFramePr>
        <p:xfrm>
          <a:off x="453017" y="12405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{6E9AE21D-751B-42DC-982F-BBD6308D5988}</a:tableStyleId>
              </a:tblPr>
              <a:tblGrid>
                <a:gridCol w="1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IoT ECO System - Smart Parking System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Avinash S, Muthukrishnan S, Ms. R. Aishwarya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Published Date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Journal/Conference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 IEEE International Students’ Conference on Electrical, Electronics, and Computer Science (SCEECS)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Has Been Researched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Proposed a scalable smart parking system using RFID for automated gate access and proximity sensors for real-time occupancy tracking. - Integrated IoT framework for seamless data flow and real-time guidance via mobile app. - System includes dynamic pricing, reservation, and predictive analytics using ML.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Identified</a:t>
                      </a:r>
                      <a:endParaRPr sz="1200" u="none" strike="noStrike" cap="none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Implementation challenges in real-world citywide deployment. - Security/privacy concerns regarding user data. - High initial setup cost and potential integration complexity with existing infrastructure.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3" name="Google Shape;243;p45"/>
          <p:cNvSpPr txBox="1"/>
          <p:nvPr/>
        </p:nvSpPr>
        <p:spPr>
          <a:xfrm>
            <a:off x="2326074" y="320668"/>
            <a:ext cx="4572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ctr" rtl="0">
              <a:lnSpc>
                <a:spcPct val="13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 Medium"/>
              <a:buNone/>
            </a:pPr>
            <a:r>
              <a:rPr lang="en" sz="26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2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/>
          <p:nvPr/>
        </p:nvSpPr>
        <p:spPr>
          <a:xfrm>
            <a:off x="496119" y="1360661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900" b="0" i="0" u="none" strike="noStrike" cap="none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Modules</a:t>
            </a:r>
            <a:endParaRPr sz="2900" b="0" i="0" u="none" strike="noStrike" cap="none">
              <a:solidFill>
                <a:srgbClr val="FFE5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46"/>
          <p:cNvSpPr/>
          <p:nvPr/>
        </p:nvSpPr>
        <p:spPr>
          <a:xfrm>
            <a:off x="496119" y="227141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Interface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46"/>
          <p:cNvSpPr/>
          <p:nvPr/>
        </p:nvSpPr>
        <p:spPr>
          <a:xfrm>
            <a:off x="496119" y="2634630"/>
            <a:ext cx="177849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OpenCV with YOLOv8 for vehicle detection and EasyOCR for plate recognition.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46"/>
          <p:cNvSpPr/>
          <p:nvPr/>
        </p:nvSpPr>
        <p:spPr>
          <a:xfrm>
            <a:off x="2625254" y="227141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Layer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46"/>
          <p:cNvSpPr/>
          <p:nvPr/>
        </p:nvSpPr>
        <p:spPr>
          <a:xfrm>
            <a:off x="2625254" y="2634630"/>
            <a:ext cx="177849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 ORM manages database models for cameras, slots, parking records, and payments.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46"/>
          <p:cNvSpPr/>
          <p:nvPr/>
        </p:nvSpPr>
        <p:spPr>
          <a:xfrm>
            <a:off x="4754389" y="2160687"/>
            <a:ext cx="1778496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API &amp; Gate Control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46"/>
          <p:cNvSpPr/>
          <p:nvPr/>
        </p:nvSpPr>
        <p:spPr>
          <a:xfrm>
            <a:off x="4754389" y="2745358"/>
            <a:ext cx="177849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Razorpay integrated with UPI QR code generation and automated gate control via HTTP/GPIO protocols.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46"/>
          <p:cNvSpPr/>
          <p:nvPr/>
        </p:nvSpPr>
        <p:spPr>
          <a:xfrm>
            <a:off x="6883524" y="21580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edium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&amp; Dashboard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46"/>
          <p:cNvSpPr/>
          <p:nvPr/>
        </p:nvSpPr>
        <p:spPr>
          <a:xfrm>
            <a:off x="6883524" y="2521223"/>
            <a:ext cx="1778496" cy="113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lang="en" sz="1200" b="0" i="0" u="none" strike="noStrike" cap="none">
                <a:solidFill>
                  <a:srgbClr val="CFD0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management interface displaying occupancy, transaction history, and manual payment handling.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7"/>
          <p:cNvSpPr/>
          <p:nvPr/>
        </p:nvSpPr>
        <p:spPr>
          <a:xfrm>
            <a:off x="816153" y="463393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47" title="diagram-export-5-13-2025-9_26_03-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150" y="1153225"/>
            <a:ext cx="7511700" cy="358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/>
          <p:nvPr/>
        </p:nvSpPr>
        <p:spPr>
          <a:xfrm>
            <a:off x="3925119" y="440159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unces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Explanation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48"/>
          <p:cNvSpPr/>
          <p:nvPr/>
        </p:nvSpPr>
        <p:spPr>
          <a:xfrm>
            <a:off x="3925119" y="1095747"/>
            <a:ext cx="106200" cy="760200"/>
          </a:xfrm>
          <a:prstGeom prst="roundRect">
            <a:avLst>
              <a:gd name="adj" fmla="val 56033"/>
            </a:avLst>
          </a:prstGeom>
          <a:solidFill>
            <a:srgbClr val="283157"/>
          </a:solidFill>
          <a:ln w="9525" cap="flat" cmpd="sng">
            <a:solidFill>
              <a:srgbClr val="414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8"/>
          <p:cNvSpPr/>
          <p:nvPr/>
        </p:nvSpPr>
        <p:spPr>
          <a:xfrm>
            <a:off x="4243983" y="1095747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Fraunces Medium"/>
              <a:buNone/>
            </a:pPr>
            <a:r>
              <a:rPr lang="en" sz="15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Entrance Flow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48"/>
          <p:cNvSpPr/>
          <p:nvPr/>
        </p:nvSpPr>
        <p:spPr>
          <a:xfrm>
            <a:off x="4243983" y="1402259"/>
            <a:ext cx="44040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detected; license plate OCR creates parking record with timestamp.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8"/>
          <p:cNvSpPr/>
          <p:nvPr/>
        </p:nvSpPr>
        <p:spPr>
          <a:xfrm>
            <a:off x="4137719" y="1997646"/>
            <a:ext cx="106200" cy="760200"/>
          </a:xfrm>
          <a:prstGeom prst="roundRect">
            <a:avLst>
              <a:gd name="adj" fmla="val 56033"/>
            </a:avLst>
          </a:prstGeom>
          <a:solidFill>
            <a:srgbClr val="283157"/>
          </a:solidFill>
          <a:ln w="9525" cap="flat" cmpd="sng">
            <a:solidFill>
              <a:srgbClr val="414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8"/>
          <p:cNvSpPr/>
          <p:nvPr/>
        </p:nvSpPr>
        <p:spPr>
          <a:xfrm>
            <a:off x="4456584" y="1997646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Fraunces Medium"/>
              <a:buNone/>
            </a:pPr>
            <a:r>
              <a:rPr lang="en" sz="15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 Assignment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48"/>
          <p:cNvSpPr/>
          <p:nvPr/>
        </p:nvSpPr>
        <p:spPr>
          <a:xfrm>
            <a:off x="4456584" y="2304157"/>
            <a:ext cx="41913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 cameras detect vehicle within defined polygons to associate record with specific parking slot.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48"/>
          <p:cNvSpPr/>
          <p:nvPr/>
        </p:nvSpPr>
        <p:spPr>
          <a:xfrm>
            <a:off x="4350395" y="2899544"/>
            <a:ext cx="106200" cy="760200"/>
          </a:xfrm>
          <a:prstGeom prst="roundRect">
            <a:avLst>
              <a:gd name="adj" fmla="val 56033"/>
            </a:avLst>
          </a:prstGeom>
          <a:solidFill>
            <a:srgbClr val="283157"/>
          </a:solidFill>
          <a:ln w="9525" cap="flat" cmpd="sng">
            <a:solidFill>
              <a:srgbClr val="414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8"/>
          <p:cNvSpPr/>
          <p:nvPr/>
        </p:nvSpPr>
        <p:spPr>
          <a:xfrm>
            <a:off x="4669259" y="289954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Fraunces Medium"/>
              <a:buNone/>
            </a:pPr>
            <a:r>
              <a:rPr lang="en" sz="15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Flow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48"/>
          <p:cNvSpPr/>
          <p:nvPr/>
        </p:nvSpPr>
        <p:spPr>
          <a:xfrm>
            <a:off x="4669259" y="3206056"/>
            <a:ext cx="397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Plate re-scanned, parking duration calculated; UPI QR generated for payment, gate opens on confirmation.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8"/>
          <p:cNvSpPr/>
          <p:nvPr/>
        </p:nvSpPr>
        <p:spPr>
          <a:xfrm>
            <a:off x="4563071" y="3801443"/>
            <a:ext cx="106200" cy="760200"/>
          </a:xfrm>
          <a:prstGeom prst="roundRect">
            <a:avLst>
              <a:gd name="adj" fmla="val 56033"/>
            </a:avLst>
          </a:prstGeom>
          <a:solidFill>
            <a:srgbClr val="283157"/>
          </a:solidFill>
          <a:ln w="9525" cap="flat" cmpd="sng">
            <a:solidFill>
              <a:srgbClr val="414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8"/>
          <p:cNvSpPr/>
          <p:nvPr/>
        </p:nvSpPr>
        <p:spPr>
          <a:xfrm>
            <a:off x="4881924" y="3801450"/>
            <a:ext cx="21216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Fraunces Medium"/>
              <a:buNone/>
            </a:pPr>
            <a:r>
              <a:rPr lang="en" sz="15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Payment Fallback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8"/>
          <p:cNvSpPr/>
          <p:nvPr/>
        </p:nvSpPr>
        <p:spPr>
          <a:xfrm>
            <a:off x="4881934" y="4107954"/>
            <a:ext cx="3765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 b="0" i="0" u="none" strike="noStrike" cap="none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payment confirmation by cashier updates record and triggers gate opening.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8" title="ChatGPT Image May 13, 2025, 01_55_10 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86325"/>
            <a:ext cx="3604174" cy="407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/>
          <p:nvPr/>
        </p:nvSpPr>
        <p:spPr>
          <a:xfrm>
            <a:off x="919624" y="357975"/>
            <a:ext cx="31233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 title="TEST2.drawi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624" y="1028675"/>
            <a:ext cx="7304764" cy="38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/>
          <p:nvPr/>
        </p:nvSpPr>
        <p:spPr>
          <a:xfrm>
            <a:off x="918376" y="597652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Class Diagram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750" y="1260963"/>
            <a:ext cx="7482501" cy="32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/>
          <p:nvPr/>
        </p:nvSpPr>
        <p:spPr>
          <a:xfrm>
            <a:off x="782169" y="468933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unces Medium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ANPR Flow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1" title="diagram-export-5-14-2025-1_00_14-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175" y="1086825"/>
            <a:ext cx="7888927" cy="354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/>
          <p:nvPr/>
        </p:nvSpPr>
        <p:spPr>
          <a:xfrm>
            <a:off x="976125" y="309600"/>
            <a:ext cx="1432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52"/>
          <p:cNvSpPr txBox="1"/>
          <p:nvPr/>
        </p:nvSpPr>
        <p:spPr>
          <a:xfrm>
            <a:off x="1398824" y="4679975"/>
            <a:ext cx="24153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Entrance camera feed to ANPR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125" y="934587"/>
            <a:ext cx="6934039" cy="355380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2"/>
          <p:cNvSpPr txBox="1"/>
          <p:nvPr/>
        </p:nvSpPr>
        <p:spPr>
          <a:xfrm>
            <a:off x="5344200" y="4679975"/>
            <a:ext cx="1860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Ground floor Tv Screen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/>
          <p:nvPr/>
        </p:nvSpPr>
        <p:spPr>
          <a:xfrm>
            <a:off x="976125" y="309600"/>
            <a:ext cx="1432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3"/>
          <p:cNvSpPr txBox="1"/>
          <p:nvPr/>
        </p:nvSpPr>
        <p:spPr>
          <a:xfrm>
            <a:off x="1485024" y="4679975"/>
            <a:ext cx="24153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Parking camera feed to ANPR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3"/>
          <p:cNvSpPr txBox="1"/>
          <p:nvPr/>
        </p:nvSpPr>
        <p:spPr>
          <a:xfrm>
            <a:off x="5344200" y="4679975"/>
            <a:ext cx="1860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Ground floor Tv Screen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125" y="895400"/>
            <a:ext cx="7092975" cy="35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/>
        </p:nvSpPr>
        <p:spPr>
          <a:xfrm>
            <a:off x="976125" y="388050"/>
            <a:ext cx="1432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54"/>
          <p:cNvSpPr txBox="1"/>
          <p:nvPr/>
        </p:nvSpPr>
        <p:spPr>
          <a:xfrm>
            <a:off x="1599299" y="4587550"/>
            <a:ext cx="24153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Payment window at exit gate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8" cy="269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4"/>
          <p:cNvSpPr txBox="1"/>
          <p:nvPr/>
        </p:nvSpPr>
        <p:spPr>
          <a:xfrm>
            <a:off x="5707913" y="4587550"/>
            <a:ext cx="22725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After exiting the parking section</a:t>
            </a:r>
            <a:endParaRPr sz="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125" y="1246400"/>
            <a:ext cx="3661649" cy="29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93600" y="1246400"/>
            <a:ext cx="3901126" cy="29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 txBox="1"/>
          <p:nvPr/>
        </p:nvSpPr>
        <p:spPr>
          <a:xfrm>
            <a:off x="2286000" y="271882"/>
            <a:ext cx="4572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spAutoFit/>
          </a:bodyPr>
          <a:lstStyle/>
          <a:p>
            <a:pPr marL="0" marR="0" lvl="0" indent="0" algn="ctr" rtl="0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4" name="Google Shape;34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89" y="1261483"/>
            <a:ext cx="2007624" cy="315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6721" y="1010579"/>
            <a:ext cx="2191036" cy="393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6676" y="1010579"/>
            <a:ext cx="2058615" cy="393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64210" y="1010579"/>
            <a:ext cx="2124034" cy="4044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/>
          <p:nvPr/>
        </p:nvSpPr>
        <p:spPr>
          <a:xfrm>
            <a:off x="496125" y="511275"/>
            <a:ext cx="45318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</a:t>
            </a:r>
            <a:endParaRPr sz="2800" b="0" i="0" u="none" strike="noStrike" cap="none">
              <a:solidFill>
                <a:srgbClr val="FFE5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4" name="Google Shape;354;p56" title="night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9125" y="4591050"/>
            <a:ext cx="12648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6"/>
          <p:cNvSpPr txBox="1"/>
          <p:nvPr/>
        </p:nvSpPr>
        <p:spPr>
          <a:xfrm>
            <a:off x="496125" y="1255650"/>
            <a:ext cx="55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6"/>
          <p:cNvSpPr txBox="1"/>
          <p:nvPr/>
        </p:nvSpPr>
        <p:spPr>
          <a:xfrm>
            <a:off x="596150" y="1293150"/>
            <a:ext cx="6588900" cy="31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an end-to-end ANPR-driven parking system that automates entry, slot assignment, occupancy tracking, and exit payments.</a:t>
            </a:r>
            <a:endParaRPr sz="14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Showcased integration of YOLOv8n for vehicle detection and EasyOCR for plate reading in a streamlined pipeline.</a:t>
            </a:r>
            <a:endParaRPr sz="14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Delivered a responsive, web-based dashboard using Django Channels and HTMX—eliminating the need for dedicated hardware displays.</a:t>
            </a:r>
            <a:endParaRPr sz="14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core functionality in a 4-slot prototype, demonstrating reliable plate recognition and real-time updates.</a:t>
            </a:r>
            <a:endParaRPr sz="14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/>
          <p:nvPr/>
        </p:nvSpPr>
        <p:spPr>
          <a:xfrm>
            <a:off x="496125" y="511275"/>
            <a:ext cx="45318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lang="en" sz="2800" b="0" i="0" u="none" strike="noStrike" cap="none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2800" b="0" i="0" u="none" strike="noStrike" cap="none">
              <a:solidFill>
                <a:srgbClr val="FFE5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57" title="night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9125" y="4591050"/>
            <a:ext cx="12648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7"/>
          <p:cNvSpPr txBox="1"/>
          <p:nvPr/>
        </p:nvSpPr>
        <p:spPr>
          <a:xfrm>
            <a:off x="496125" y="1255650"/>
            <a:ext cx="60951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Hardware Deployment:</a:t>
            </a:r>
            <a:r>
              <a:rPr lang="en"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Incorporate real cameras, gate actuators, and LED guidance signs to fully realize the automated parking vision.</a:t>
            </a:r>
            <a:endParaRPr sz="14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SaaS Platform:</a:t>
            </a:r>
            <a:r>
              <a:rPr lang="en"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Evolve into a multi-tenant cloud service with centralized management, billing, and analytics.</a:t>
            </a:r>
            <a:endParaRPr sz="1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&amp; API Integrations:</a:t>
            </a:r>
            <a:r>
              <a:rPr lang="en"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Offer native mobile apps and public APIs for seamless third-party integrations (e.g., EV charging, loyalty).</a:t>
            </a:r>
            <a:endParaRPr sz="1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Analytics:</a:t>
            </a:r>
            <a:r>
              <a:rPr lang="en"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demand forecasting, dynamic pricing models, and anomaly detection to optimize utilization.</a:t>
            </a:r>
            <a:endParaRPr sz="1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/>
          <p:nvPr/>
        </p:nvSpPr>
        <p:spPr>
          <a:xfrm>
            <a:off x="496050" y="1019200"/>
            <a:ext cx="81519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1.“ParkNest – The Smart Parking System Using IoT,”, 2024.</a:t>
            </a:r>
            <a:endParaRPr sz="1200">
              <a:solidFill>
                <a:srgbClr val="EBEC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2,“Efficient Smart Parking Space Identification and Classification System Using YOLOv8 Network Model,” Proc. IEEE Intl. Conf. on IoT &amp; Distributed Computing Systems (IDCIoT), 2025.</a:t>
            </a:r>
            <a:endParaRPr sz="1200">
              <a:solidFill>
                <a:srgbClr val="EBEC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“ChirpPark: A Smart and Sustainable Parking System Protocol for Smart Cities and Multi‑Agent Vehicles,” Proc. IEEE Smart Cities &amp; Future Computing (SCFC), 2024.</a:t>
            </a:r>
            <a:endParaRPr sz="1200">
              <a:solidFill>
                <a:srgbClr val="EBEC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“IoT Assisted Smart Parking System for Vehicles using Logical Sensors and Remote Monitoring Facility,” Proc. IEEE Int’l Conf. on Power, Electronics, Control &amp; Transmission Systems (ICPECTS), 2024.</a:t>
            </a:r>
            <a:endParaRPr sz="1200">
              <a:solidFill>
                <a:srgbClr val="EBEC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“Enhancing IoT ECO System – Smart Parking S</a:t>
            </a:r>
            <a:r>
              <a:rPr lang="en" sz="120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ystem,” unpublished, 2025.</a:t>
            </a:r>
            <a:endParaRPr sz="1200">
              <a:solidFill>
                <a:srgbClr val="EBECEF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20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://razorpay.com/docs/api/payment-links/</a:t>
            </a:r>
            <a:endParaRPr sz="1200">
              <a:solidFill>
                <a:srgbClr val="EBECEF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371" name="Google Shape;371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8"/>
          <p:cNvSpPr txBox="1"/>
          <p:nvPr/>
        </p:nvSpPr>
        <p:spPr>
          <a:xfrm>
            <a:off x="496050" y="342900"/>
            <a:ext cx="29310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/>
          <p:nvPr/>
        </p:nvSpPr>
        <p:spPr>
          <a:xfrm>
            <a:off x="496125" y="1755125"/>
            <a:ext cx="44184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unces Medium"/>
              <a:buNone/>
            </a:pPr>
            <a:r>
              <a:rPr lang="en" sz="5300" b="0" i="0" u="none" strike="noStrike" cap="non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Thank You </a:t>
            </a:r>
            <a:endParaRPr sz="5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59"/>
          <p:cNvSpPr/>
          <p:nvPr/>
        </p:nvSpPr>
        <p:spPr>
          <a:xfrm>
            <a:off x="496119" y="3561085"/>
            <a:ext cx="8151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lang="en" sz="1100" b="0" i="0" u="none" strike="noStrike" cap="non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We appreciate your attention. Please feel free to ask questions or request further technical details on the</a:t>
            </a:r>
            <a:r>
              <a:rPr lang="en" sz="110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Intelligent Multi-floor parking </a:t>
            </a:r>
            <a:r>
              <a:rPr lang="en" sz="1100" b="0" i="0" u="none" strike="noStrike" cap="non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management system.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17" y="4807607"/>
            <a:ext cx="1038457" cy="2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On-screen Show (16:9)</PresentationFormat>
  <Paragraphs>150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Times New Roman</vt:lpstr>
      <vt:lpstr>Roboto Medium</vt:lpstr>
      <vt:lpstr>Roboto</vt:lpstr>
      <vt:lpstr>Epilogue</vt:lpstr>
      <vt:lpstr>Fraunces Medium</vt:lpstr>
      <vt:lpstr>Arial</vt:lpstr>
      <vt:lpstr>Calibri</vt:lpstr>
      <vt:lpstr>Simple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Mafaz Sada</cp:lastModifiedBy>
  <cp:revision>1</cp:revision>
  <dcterms:modified xsi:type="dcterms:W3CDTF">2025-06-17T01:09:55Z</dcterms:modified>
</cp:coreProperties>
</file>